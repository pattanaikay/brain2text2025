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972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7548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BRAIN2TEXT  ·  RESEARCH EXPERIMENT DESIGN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Brain2Text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320040" y="17373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Neural Decoding — Experiment Design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2322576"/>
            <a:ext cx="384048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45059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Baseline WER  0.3673   ·   Target WER  &lt; 0.10   ·   RTX 4050 6 GB (local)  +  A100 40 GB (cloud)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907792"/>
            <a:ext cx="1591056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163824"/>
            <a:ext cx="15910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3895344"/>
            <a:ext cx="1591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84248" y="2907792"/>
            <a:ext cx="1591056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4248" y="3163824"/>
            <a:ext cx="15910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984248" y="3895344"/>
            <a:ext cx="1591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48456" y="2907792"/>
            <a:ext cx="1591056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48456" y="3163824"/>
            <a:ext cx="15910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648456" y="3895344"/>
            <a:ext cx="1591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Locally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12664" y="2907792"/>
            <a:ext cx="1591056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2664" y="3163824"/>
            <a:ext cx="15910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312664" y="3895344"/>
            <a:ext cx="1591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Only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76872" y="2907792"/>
            <a:ext cx="1591056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76872" y="3163824"/>
            <a:ext cx="15910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76872" y="3895344"/>
            <a:ext cx="1591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Run Time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orthogonal investigation axes — each independently testable, combined for maximum WER reduction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15568"/>
            <a:ext cx="1536192" cy="35478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15568"/>
            <a:ext cx="153619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280160"/>
            <a:ext cx="493776" cy="493776"/>
          </a:xfrm>
          <a:prstGeom prst="ellipse">
            <a:avLst/>
          </a:prstGeom>
          <a:solidFill>
            <a:srgbClr val="38BDF8">
              <a:alpha val="15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89304"/>
            <a:ext cx="4937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21208" y="189280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212140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9496" y="2724912"/>
            <a:ext cx="1371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vs image/video vs text LLM — why does modality of pretraining affect neural decoding quality?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" y="4297680"/>
            <a:ext cx="713232" cy="246888"/>
          </a:xfrm>
          <a:prstGeom prst="rect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29768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exp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21408" y="1115568"/>
            <a:ext cx="1536192" cy="35478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21408" y="1115568"/>
            <a:ext cx="1536192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42616" y="1280160"/>
            <a:ext cx="493776" cy="493776"/>
          </a:xfrm>
          <a:prstGeom prst="ellipse">
            <a:avLst/>
          </a:prstGeom>
          <a:solidFill>
            <a:srgbClr val="A78BFA">
              <a:alpha val="15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42616" y="1289304"/>
            <a:ext cx="4937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185416" y="189280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185416" y="212140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203704" y="2724912"/>
            <a:ext cx="1371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ConformerXL, HRM, MambaPOSSM, MoE, ZenBrain — drop-in BIT_Transformer replacements.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32888" y="4297680"/>
            <a:ext cx="713232" cy="246888"/>
          </a:xfrm>
          <a:prstGeom prst="rect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32888" y="429768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85616" y="1115568"/>
            <a:ext cx="1536192" cy="35478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85616" y="1115568"/>
            <a:ext cx="1536192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06824" y="1280160"/>
            <a:ext cx="493776" cy="493776"/>
          </a:xfrm>
          <a:prstGeom prst="ellipse">
            <a:avLst/>
          </a:prstGeom>
          <a:solidFill>
            <a:srgbClr val="34D399">
              <a:alpha val="15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06824" y="1289304"/>
            <a:ext cx="4937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849624" y="189280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849624" y="212140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Decoder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867912" y="2724912"/>
            <a:ext cx="1371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Qwen2-Audio-7B, Phi4-Multimodal, Whisper-Qwen — audio-pretrained LLM backbone ablations.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97096" y="4297680"/>
            <a:ext cx="713232" cy="246888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97096" y="429768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49824" y="1115568"/>
            <a:ext cx="1536192" cy="35478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49824" y="1115568"/>
            <a:ext cx="1536192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71032" y="1280160"/>
            <a:ext cx="493776" cy="493776"/>
          </a:xfrm>
          <a:prstGeom prst="ellipse">
            <a:avLst/>
          </a:prstGeom>
          <a:solidFill>
            <a:srgbClr val="FB923C">
              <a:alpha val="15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71032" y="1289304"/>
            <a:ext cx="4937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513832" y="189280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513832" y="212140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532120" y="2724912"/>
            <a:ext cx="1371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weight annealing, contrastive weight, topographic loss, label smoothing.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861304" y="4297680"/>
            <a:ext cx="713232" cy="246888"/>
          </a:xfrm>
          <a:prstGeom prst="rect">
            <a:avLst/>
          </a:prstGeom>
          <a:solidFill>
            <a:srgbClr val="FB923C">
              <a:alpha val="15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61304" y="429768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exp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114032" y="1115568"/>
            <a:ext cx="1536192" cy="35478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114032" y="1115568"/>
            <a:ext cx="1536192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35240" y="1280160"/>
            <a:ext cx="493776" cy="493776"/>
          </a:xfrm>
          <a:prstGeom prst="ellipse">
            <a:avLst/>
          </a:prstGeom>
          <a:solidFill>
            <a:srgbClr val="F472B6">
              <a:alpha val="15000"/>
            </a:srgbClr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35240" y="1289304"/>
            <a:ext cx="4937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7178040" y="189280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178040" y="212140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7196328" y="2724912"/>
            <a:ext cx="1371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depth variants, Q-Former cross-attention projector, patch-size token-count grid.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25512" y="4297680"/>
            <a:ext cx="713232" cy="246888"/>
          </a:xfrm>
          <a:prstGeom prst="rect">
            <a:avLst/>
          </a:prstGeom>
          <a:solidFill>
            <a:srgbClr val="F472B6">
              <a:alpha val="15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25512" y="429768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Architecture  ·  Toy Training Protocol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E2E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16152"/>
            <a:ext cx="1170432" cy="1051560"/>
          </a:xfrm>
          <a:prstGeom prst="rect">
            <a:avLst/>
          </a:prstGeom>
          <a:solidFill>
            <a:srgbClr val="F8FAFC"/>
          </a:solidFill>
          <a:ln w="19050">
            <a:solidFill>
              <a:srgbClr val="38BDF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16152"/>
            <a:ext cx="1170432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25880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Transformer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69164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7L · 384d · RoPE · session read-in · SSL pretrained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627632" y="1741932"/>
            <a:ext cx="42062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48256" y="1216152"/>
            <a:ext cx="1170432" cy="1051560"/>
          </a:xfrm>
          <a:prstGeom prst="rect">
            <a:avLst/>
          </a:prstGeom>
          <a:solidFill>
            <a:srgbClr val="F8FAFC"/>
          </a:solidFill>
          <a:ln w="19050">
            <a:solidFill>
              <a:srgbClr val="A78BFA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48256" y="1216152"/>
            <a:ext cx="1170432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21408" y="1325880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Projector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21408" y="169164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384→1024→1024→1536 · LayerNorm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18688" y="1741932"/>
            <a:ext cx="42062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39312" y="1216152"/>
            <a:ext cx="1170432" cy="1051560"/>
          </a:xfrm>
          <a:prstGeom prst="rect">
            <a:avLst/>
          </a:prstGeom>
          <a:solidFill>
            <a:srgbClr val="F8FAFC"/>
          </a:solidFill>
          <a:ln w="1905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39312" y="1216152"/>
            <a:ext cx="1170432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1325880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Qwen2.5-1.5B + QLoRA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12464" y="169164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r=8 · α=32 · 7 targets · 4-bit NF4 · CTC + Contrastive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2395728"/>
            <a:ext cx="41148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39572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WER  0.3673   ·   Epoch 65 / 150   ·   LR = 6.25e-6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090672"/>
            <a:ext cx="41148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0352" y="3090672"/>
            <a:ext cx="3968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fix applied: nucleus sampling  top_p=0.9 · temperature=0.7 · max_new_tokens=25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86868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Training Protocol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1216152"/>
            <a:ext cx="1463040" cy="356616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55464" y="1216152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63640" y="1216152"/>
            <a:ext cx="1207008" cy="356616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8504" y="1216152"/>
            <a:ext cx="1115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70648" y="1216152"/>
            <a:ext cx="1207008" cy="356616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25512" y="1216152"/>
            <a:ext cx="1115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Run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1572768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55464" y="1572768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1572768"/>
            <a:ext cx="1207008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18504" y="1572768"/>
            <a:ext cx="1115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70648" y="1572768"/>
            <a:ext cx="1207008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25512" y="1572768"/>
            <a:ext cx="1115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1929384"/>
            <a:ext cx="1463040" cy="3566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55464" y="1929384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/ epoch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1929384"/>
            <a:ext cx="1207008" cy="3566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18504" y="1929384"/>
            <a:ext cx="1115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1,369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470648" y="1929384"/>
            <a:ext cx="1207008" cy="3566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25512" y="1929384"/>
            <a:ext cx="1115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00600" y="2286000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5464" y="2286000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63640" y="2286000"/>
            <a:ext cx="1207008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18504" y="2286000"/>
            <a:ext cx="1115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hours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470648" y="2286000"/>
            <a:ext cx="1207008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25512" y="2286000"/>
            <a:ext cx="1115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00600" y="2642616"/>
            <a:ext cx="1463040" cy="3566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55464" y="2642616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fraction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63640" y="2642616"/>
            <a:ext cx="1207008" cy="3566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18504" y="2642616"/>
            <a:ext cx="1115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470648" y="2642616"/>
            <a:ext cx="1207008" cy="3566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25512" y="2642616"/>
            <a:ext cx="1115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800600" y="2999232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55464" y="2999232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interval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63640" y="2999232"/>
            <a:ext cx="1207008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18504" y="2999232"/>
            <a:ext cx="1115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epochs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470648" y="2999232"/>
            <a:ext cx="1207008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25512" y="2999232"/>
            <a:ext cx="1115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epochs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800600" y="3355848"/>
            <a:ext cx="1463040" cy="3566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55464" y="3355848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263640" y="3355848"/>
            <a:ext cx="1207008" cy="3566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18504" y="3355848"/>
            <a:ext cx="1115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470648" y="3355848"/>
            <a:ext cx="1207008" cy="3566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25512" y="3355848"/>
            <a:ext cx="1115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800600" y="3730752"/>
            <a:ext cx="38862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4919472" y="380390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Rule (WER slope vs baseline)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919472" y="409651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5% rel. 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Full A100 run immediately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919472" y="4297680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3–5% rel. 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Combine + re-run toy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919472" y="449884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1–3% rel. 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Only if compute idle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919472" y="4700016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1% rel. 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Discard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1732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7373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Study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320040" y="2816352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Audio vs image/video vs text-only LLMs — which prior helps neural decoding, and why?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3438144"/>
            <a:ext cx="2043684" cy="274320"/>
          </a:xfrm>
          <a:prstGeom prst="rect">
            <a:avLst/>
          </a:prstGeom>
          <a:solidFill>
            <a:srgbClr val="38BDF8">
              <a:alpha val="15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438144"/>
            <a:ext cx="2043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 CKA Alignment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73452" y="3438144"/>
            <a:ext cx="2043684" cy="274320"/>
          </a:xfrm>
          <a:prstGeom prst="rect">
            <a:avLst/>
          </a:prstGeom>
          <a:solidFill>
            <a:srgbClr val="38BDF8">
              <a:alpha val="15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73452" y="3438144"/>
            <a:ext cx="2043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 Spoken Perplexity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26864" y="3438144"/>
            <a:ext cx="2043684" cy="274320"/>
          </a:xfrm>
          <a:prstGeom prst="rect">
            <a:avLst/>
          </a:prstGeom>
          <a:solidFill>
            <a:srgbClr val="38BDF8">
              <a:alpha val="15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3438144"/>
            <a:ext cx="2043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 Phoneme Probe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780276" y="3438144"/>
            <a:ext cx="2043684" cy="274320"/>
          </a:xfrm>
          <a:prstGeom prst="rect">
            <a:avLst/>
          </a:prstGeom>
          <a:solidFill>
            <a:srgbClr val="38BDF8">
              <a:alpha val="15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80276" y="3438144"/>
            <a:ext cx="2043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 Full E2E WER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 ·  Four Competing Hypotheses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hypothesis implies a different experimental test — and a different architectural fix.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3986784" cy="17190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986784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8872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Phoneme Prior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499616"/>
            <a:ext cx="3712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pretraining creates richer sub-word phoneme representations. Neural speech encodes phonemes — audio LLMs understand phoneme-to-word mappings better than text LLMs.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Experiment A3: Phoneme probing on frozen LLM hidden states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17136" y="1097280"/>
            <a:ext cx="3986784" cy="17190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17136" y="1097280"/>
            <a:ext cx="3986784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118872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— Spoken Language Prior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1499616"/>
            <a:ext cx="3712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text statistics differ from written text: shorter sentences, simpler syntax, more repetition. Audio-pretrained LLMs are better calibrated for spoken sentence distributions.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54296" y="2468880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Experiment A2: Perplexity ratio (spoken / written corpus) across models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907792"/>
            <a:ext cx="3986784" cy="17190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07792"/>
            <a:ext cx="3986784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9923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— Embedding Geometry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310128"/>
            <a:ext cx="3712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token embedding space of audio-pretrained LLMs is geometrically closer to what the BIT projector produces. The projector bridges a shorter semantic distance.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279392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Experiment A1: CKA alignment between neural projections and LLM embeddings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17136" y="2907792"/>
            <a:ext cx="3986784" cy="17190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17136" y="2907792"/>
            <a:ext cx="3986784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299923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— Temporal Structure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54296" y="3310128"/>
            <a:ext cx="3712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 on video (also a temporal sequence modality) may help similarly to audio — suggesting the benefit is about temporal structure generally, not speech specifically.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54296" y="4279392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Experiment A4: E2E WER with Qwen2.5-VL-3B (video) vs Qwen2-Audio-7B (audio)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 ·  Experiments A1 – A4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04672"/>
            <a:ext cx="1965960" cy="3730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04672"/>
            <a:ext cx="19659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8961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00200" y="923544"/>
            <a:ext cx="713232" cy="228600"/>
          </a:xfrm>
          <a:prstGeom prst="rect">
            <a:avLst/>
          </a:prstGeom>
          <a:solidFill>
            <a:srgbClr val="4ADE80">
              <a:alpha val="20000"/>
            </a:srgbClr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923544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746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Embedding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1792224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1975104"/>
            <a:ext cx="1746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linear CKA between BIT encoder output and each LLM's embedding space over the validation set. No training required — pure geometry measurement.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66928" y="292608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6928" y="3108960"/>
            <a:ext cx="174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LLMs: text-1.5B, text-7B, vision-3B, audio-7B, phi4-MM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66928" y="3547872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6928" y="3730752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score — higher = better alignment between spaces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66928" y="4261104"/>
            <a:ext cx="1746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23744" y="804672"/>
            <a:ext cx="1965960" cy="3730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23744" y="804672"/>
            <a:ext cx="19659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33472" y="8961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66744" y="923544"/>
            <a:ext cx="713232" cy="228600"/>
          </a:xfrm>
          <a:prstGeom prst="rect">
            <a:avLst/>
          </a:prstGeom>
          <a:solidFill>
            <a:srgbClr val="4ADE80">
              <a:alpha val="20000"/>
            </a:srgbClr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66744" y="923544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633472" y="1243584"/>
            <a:ext cx="1746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Language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633472" y="1792224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33472" y="1975104"/>
            <a:ext cx="1746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perplexity of each frozen LLM on BCI competition sentences (spoken) vs Wikipedia excerpts (written). Tests whether audio pretraining narrows the spoken/written gap.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2633472" y="292608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633472" y="3108960"/>
            <a:ext cx="174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Qwen2.5-1.5B  ·  Qwen2.5-7B  ·  Qwen2-Audio-7B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2633472" y="3547872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633472" y="3730752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PPL_spoken / PPL_written — lower = better spoken prior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2633472" y="4261104"/>
            <a:ext cx="1746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90288" y="804672"/>
            <a:ext cx="1965960" cy="3730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90288" y="804672"/>
            <a:ext cx="19659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0016" y="8961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733288" y="923544"/>
            <a:ext cx="713232" cy="228600"/>
          </a:xfrm>
          <a:prstGeom prst="rect">
            <a:avLst/>
          </a:prstGeom>
          <a:solidFill>
            <a:srgbClr val="4ADE80">
              <a:alpha val="20000"/>
            </a:srgbClr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33288" y="923544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700016" y="1243584"/>
            <a:ext cx="1746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Phoneme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Probing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00016" y="1792224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00016" y="1975104"/>
            <a:ext cx="1746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LLM. Train Linear(llm_dim → 42) probe on hidden states to predict phoneme class from ground-truth text. Tests whether phoneme info is encoded in LLM representations.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4700016" y="292608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00016" y="3108960"/>
            <a:ext cx="174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frozen LLMs compared with identical probe and data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4700016" y="3547872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00016" y="3730752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Phoneme top-1 classification accuracy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4700016" y="4261104"/>
            <a:ext cx="1746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656832" y="804672"/>
            <a:ext cx="1965960" cy="3730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656832" y="804672"/>
            <a:ext cx="19659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0" y="8961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799832" y="923544"/>
            <a:ext cx="713232" cy="228600"/>
          </a:xfrm>
          <a:prstGeom prst="rect">
            <a:avLst/>
          </a:prstGeom>
          <a:solidFill>
            <a:srgbClr val="F87171">
              <a:alpha val="20000"/>
            </a:srgbClr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99832" y="923544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766560" y="1243584"/>
            <a:ext cx="1746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E2E WER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766560" y="1792224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766560" y="1975104"/>
            <a:ext cx="1746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each decoder (text / audio / vision / Whisper-Qwen) on toy data for 20 epochs. Compare WER learning slope. Whisper-Qwen (C3) can be run locally as A4 proxy.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6766560" y="292608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766560" y="3108960"/>
            <a:ext cx="174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LLM decoders × 20 toy epochs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6766560" y="3547872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766560" y="3730752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at epoch 10 + slope (epoch 2 → 20)</a:t>
            </a:r>
            <a:endParaRPr lang="en-US" sz="880" dirty="0"/>
          </a:p>
        </p:txBody>
      </p:sp>
      <p:sp>
        <p:nvSpPr>
          <p:cNvPr id="55" name="Text 53"/>
          <p:cNvSpPr/>
          <p:nvPr/>
        </p:nvSpPr>
        <p:spPr>
          <a:xfrm>
            <a:off x="6766560" y="4261104"/>
            <a:ext cx="1746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hr cloud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1732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7373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320040" y="2816352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drop-in replacements for BIT_Transformer — all output (B, T_patch, 384)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3438144"/>
            <a:ext cx="1613002" cy="274320"/>
          </a:xfrm>
          <a:prstGeom prst="rect">
            <a:avLst/>
          </a:prstGeom>
          <a:solidFill>
            <a:srgbClr val="A78BFA">
              <a:alpha val="15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438144"/>
            <a:ext cx="16130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 ConformerXL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42770" y="3438144"/>
            <a:ext cx="1613002" cy="274320"/>
          </a:xfrm>
          <a:prstGeom prst="rect">
            <a:avLst/>
          </a:prstGeom>
          <a:solidFill>
            <a:srgbClr val="A78BFA">
              <a:alpha val="15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42770" y="3438144"/>
            <a:ext cx="16130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 HRM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65499" y="3438144"/>
            <a:ext cx="1613002" cy="274320"/>
          </a:xfrm>
          <a:prstGeom prst="rect">
            <a:avLst/>
          </a:prstGeom>
          <a:solidFill>
            <a:srgbClr val="A78BFA">
              <a:alpha val="15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5499" y="3438144"/>
            <a:ext cx="16130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 MambaPOSSM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8229" y="3438144"/>
            <a:ext cx="1613002" cy="274320"/>
          </a:xfrm>
          <a:prstGeom prst="rect">
            <a:avLst/>
          </a:prstGeom>
          <a:solidFill>
            <a:srgbClr val="A78BFA">
              <a:alpha val="15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8229" y="3438144"/>
            <a:ext cx="16130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 MoE Encoder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210958" y="3438144"/>
            <a:ext cx="1613002" cy="274320"/>
          </a:xfrm>
          <a:prstGeom prst="rect">
            <a:avLst/>
          </a:prstGeom>
          <a:solidFill>
            <a:srgbClr val="A78BFA">
              <a:alpha val="15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10958" y="3438144"/>
            <a:ext cx="16130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 ZenBrain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 ·  Architecture Comparison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86384"/>
            <a:ext cx="1481328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86384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938528" y="786384"/>
            <a:ext cx="3675888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786384"/>
            <a:ext cx="3584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14416" y="786384"/>
            <a:ext cx="10515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87568" y="786384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Params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665976" y="786384"/>
            <a:ext cx="896112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786384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562088" y="786384"/>
            <a:ext cx="667512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786384"/>
            <a:ext cx="576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335024"/>
            <a:ext cx="1481328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1335024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(baseline)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38528" y="1335024"/>
            <a:ext cx="3675888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02536" y="1335024"/>
            <a:ext cx="3584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RoPE Transformer · 7 layers · MAE SSL pretrained · per-session ModuleDict read-in layers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614416" y="1335024"/>
            <a:ext cx="10515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78424" y="1335024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65976" y="1335024"/>
            <a:ext cx="896112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9984" y="1335024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62088" y="1335024"/>
            <a:ext cx="667512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6096" y="1335024"/>
            <a:ext cx="576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1335024"/>
            <a:ext cx="36576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1883664"/>
            <a:ext cx="148132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1883664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ConformerXL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938528" y="1883664"/>
            <a:ext cx="3675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02536" y="1883664"/>
            <a:ext cx="3584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JitterCorrectionPrenet: dilated conv (d=1,2,4) + BiGRU corrects spike-timing jitter before patching. Macaron FFN + ConvModule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614416" y="1883664"/>
            <a:ext cx="1051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78424" y="1883664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65976" y="1883664"/>
            <a:ext cx="89611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9984" y="1883664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562088" y="1883664"/>
            <a:ext cx="66751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26096" y="1883664"/>
            <a:ext cx="576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1883664"/>
            <a:ext cx="36576" cy="548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2432304"/>
            <a:ext cx="1481328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" y="2432304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938528" y="2432304"/>
            <a:ext cx="3675888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02536" y="2432304"/>
            <a:ext cx="3584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Dual-timescale GRU: L-module (20ms bins) + H-module (100ms patches). Fixed-point DEQ solver — O(1) memory per patch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614416" y="2432304"/>
            <a:ext cx="10515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78424" y="2432304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−10M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665976" y="2432304"/>
            <a:ext cx="896112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9984" y="2432304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562088" y="2432304"/>
            <a:ext cx="667512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6096" y="2432304"/>
            <a:ext cx="576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2432304"/>
            <a:ext cx="36576" cy="548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2980944"/>
            <a:ext cx="148132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1208" y="2980944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MambaPOSSM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938528" y="2980944"/>
            <a:ext cx="3675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02536" y="2980944"/>
            <a:ext cx="3584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IndividualSpikeTokenizer replaces linear patch embedding. SSM (Mamba / GRU fallback) with input-dependent state selection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614416" y="2980944"/>
            <a:ext cx="1051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78424" y="2980944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665976" y="2980944"/>
            <a:ext cx="89611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29984" y="2980944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562088" y="2980944"/>
            <a:ext cx="66751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26096" y="2980944"/>
            <a:ext cx="576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" y="2980944"/>
            <a:ext cx="36576" cy="548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" y="3529584"/>
            <a:ext cx="1481328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1208" y="3529584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Encoder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938528" y="3529584"/>
            <a:ext cx="3675888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002536" y="3529584"/>
            <a:ext cx="3584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specific experts (top-2 routing) + 2 shared experts replace FFN in all TransformerBlocks. TopK router with load-balance aux loss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614416" y="3529584"/>
            <a:ext cx="10515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78424" y="3529584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+40M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665976" y="3529584"/>
            <a:ext cx="896112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29984" y="3529584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562088" y="3529584"/>
            <a:ext cx="667512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626096" y="3529584"/>
            <a:ext cx="576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7200" y="3529584"/>
            <a:ext cx="36576" cy="548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57200" y="4078224"/>
            <a:ext cx="148132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21208" y="4078224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ZenBrain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938528" y="4078224"/>
            <a:ext cx="367588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002536" y="4078224"/>
            <a:ext cx="3584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DualMemoryBlock: cross-attention over episodic buffer (M=3000 patches). Buffer fills from high-confidence trials at inference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614416" y="4078224"/>
            <a:ext cx="1051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678424" y="4078224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+2M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665976" y="4078224"/>
            <a:ext cx="89611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29984" y="4078224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562088" y="4078224"/>
            <a:ext cx="66751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626096" y="4078224"/>
            <a:ext cx="576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57200" y="4078224"/>
            <a:ext cx="36576" cy="548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7200" y="466344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encoders: forward(x, session_id=None, mask_patches=None, neural_lengths=None) → (B, T_patch, 384)  ·  Non-BIT encoders train from scratch — no SSL checkpoint.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 ·  Architecture Deep-Dives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31520"/>
            <a:ext cx="3977640" cy="12618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31520"/>
            <a:ext cx="45720" cy="12618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9552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ConformerXL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069848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77824" y="1060704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Spike-timing jitter: neurons fire within ±10ms of their 'true' time. BIT embeds raw bins, propagating jitter into patch representations.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453896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77824" y="1444752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JitterCorrectionPrenet: 3 dilated conv branches (d=1,2,4) + BiGRU, runs before patching. Macaron blocks: FFN×0.5 → MHSA → DepthwiseConv → FFN×0.5.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17720" y="731520"/>
            <a:ext cx="3977640" cy="12618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731520"/>
            <a:ext cx="45720" cy="12618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79552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 (Hierarchical Recurrent)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069848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38344" y="1060704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speech has two timescales: individual spikes (20ms) and phoneme patterns (100ms). A single transformer treats all patches uniformly.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0" y="1453896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38344" y="1444752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L-module (GRUCell at 20ms, gated by H context) + H-module (GRUCell over patch summaries). DEQ fixed-point solver per patch — O(1) memory, no cross-patch BPTT.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048256"/>
            <a:ext cx="3977640" cy="12618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048256"/>
            <a:ext cx="45720" cy="12618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11226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MambaPOSSM (SSM)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2386584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77824" y="2377440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any 20ms bin, only ~50 of 512 channels fire. Linear patch embedding weights all channels equally. Attention-based tokenization selects informative channels.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4360" y="2770632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77824" y="2761488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IndividualSpikeTokenizer: 64 learned queries cross-attend to 4 KV frames → sum-pool → 1 token. SSMBlock: Mamba (or GRU fallback) with input-dependent state transitions.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17720" y="2048256"/>
            <a:ext cx="3977640" cy="12618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2048256"/>
            <a:ext cx="45720" cy="12618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11226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Encoder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2386584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38344" y="2377440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data is multi-domain: phonemes, prosody, motor commands, noise. A single FFN processes all token types identically.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0" y="2770632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38344" y="2761488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SSMoEBlock: 6 routed experts (top-2 per token via TopK router) + 2 always-active shared experts. Load-balance auxiliary loss (λ=0.01) prevents expert collapse.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3364992"/>
            <a:ext cx="3977640" cy="12618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364992"/>
            <a:ext cx="45720" cy="12618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42900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ZenBrain (Episodic Memory)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" y="3703320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77824" y="3694176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 electrode signals drift across trials. High-quality decodings from earlier in a session should help interpret noisier later trials.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94360" y="4087368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77824" y="4078224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EpisodicBuffer: ring buffer M=3000 × 384. DualMemoryBlock adds cross-attn over buffer. use_memory=False during training; buffer fills from CTC-confident patches at inference.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 ·  LLM Decoder Variants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encoder is held constant. Only the LLM decoder changes.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78408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2633472" cy="3520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78992"/>
            <a:ext cx="2633472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67712" y="1188720"/>
            <a:ext cx="713232" cy="228600"/>
          </a:xfrm>
          <a:prstGeom prst="rect">
            <a:avLst/>
          </a:prstGeom>
          <a:solidFill>
            <a:srgbClr val="F87171">
              <a:alpha val="20000"/>
            </a:srgbClr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67712" y="118872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66928" y="117043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481328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Qwen2-Audio-7B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084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dim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26464" y="20848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3584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6928" y="23591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26464" y="23591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 ·  ~7 GB at 4-bit NF4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6928" y="26334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targets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426464" y="2633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v, o, gate, up, down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66928" y="2926080"/>
            <a:ext cx="241401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98094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66928" y="3163824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as AutoModelForCausalLM — language backbone shaped by joint audio-text training. BIT embeddings injected via inputs_embeds, bypassing Qwen2-Audio's Whisper encoder.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566928" y="416052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equivalent to paper's Aero1-Audio. Most principled audio pretraining test.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55264" y="1078992"/>
            <a:ext cx="2633472" cy="3520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55264" y="1078992"/>
            <a:ext cx="2633472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65776" y="1188720"/>
            <a:ext cx="713232" cy="228600"/>
          </a:xfrm>
          <a:prstGeom prst="rect">
            <a:avLst/>
          </a:prstGeom>
          <a:solidFill>
            <a:srgbClr val="F87171">
              <a:alpha val="20000"/>
            </a:srgbClr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118872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364992" y="117043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64992" y="1481328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Phi-4-Multimodal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64992" y="2084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dim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24528" y="20848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64992" y="23591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224528" y="23591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5.6B  ·  ~6 GB at 4-bit NF4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64992" y="26334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targets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224528" y="2633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qkv_proj, o_proj, gate_up_proj, down_proj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364992" y="2926080"/>
            <a:ext cx="241401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298094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64992" y="3163824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+ video + image pretrained (Azure Speech data). Uses fused QKV — LoRA targets qkv_proj covering all three heads. Both temporal and acoustic priors.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3364992" y="416052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than C1 but trained on both temporal (video) and acoustic (speech) modalities.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053328" y="1078992"/>
            <a:ext cx="2633472" cy="3520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53328" y="1078992"/>
            <a:ext cx="2633472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63840" y="1188720"/>
            <a:ext cx="713232" cy="228600"/>
          </a:xfrm>
          <a:prstGeom prst="rect">
            <a:avLst/>
          </a:prstGeom>
          <a:solidFill>
            <a:srgbClr val="4ADE80">
              <a:alpha val="20000"/>
            </a:srgbClr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3840" y="118872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163056" y="117043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163056" y="1481328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Whisper-Large-v3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Qwen2.5-1.5B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163056" y="2084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dim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022592" y="20848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 → 1536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163056" y="23591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022592" y="23591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615M frozen + 1.5B + LoRA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63056" y="26334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targets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022592" y="2633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 only (7 standard targets)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163056" y="2926080"/>
            <a:ext cx="241401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63056" y="298094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63056" y="3163824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Whisper encoder as speech manifold normalizer: BIT → Linear(384,1280)+LN → frozen Whisper → Linear(1280,1536) → Qwen2.5 + LoRA. No Whisper fine-tuning.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6163056" y="416052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RTX 4050 (~4.1 GB). Most principled test of the embedding alignment hypothesis.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  ·  Loss Function Design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577840" y="1828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  ·  Projector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58368"/>
            <a:ext cx="4937760" cy="51206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8368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 =  CE  +  0.3 × CTC  +  1.0 × Contrastive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2377440" cy="16642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61872"/>
            <a:ext cx="2377440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35331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 CTC Annealing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664208"/>
            <a:ext cx="21579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0.3→0.0 linearly over 75 epochs. CTC is most valuable early; fixed weight may constrain late E2E specialization. Variants: fixed / linear / step / zero.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2944368" y="1261872"/>
            <a:ext cx="2377440" cy="16642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44368" y="1261872"/>
            <a:ext cx="2377440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54096" y="135331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 Contrastive Weight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54096" y="1664208"/>
            <a:ext cx="21579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weights 0.0 / 0.1 / 1.0 / 2.0. If weight=0 gives better WER, the contrastive loss conflicts with CE and should be removed or rescheduled.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2377440" cy="16642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17520"/>
            <a:ext cx="2377440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1089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 Topographic Loss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3419856"/>
            <a:ext cx="21579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FFN weights to form cortical-like spatial maps. Pure regularizer — zero new params. Targets FFN first-linear in all TransformerBlocks. Weight ∈ {0.001, 0.01, 0.1}.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944368" y="3017520"/>
            <a:ext cx="2377440" cy="16642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44368" y="3017520"/>
            <a:ext cx="2377440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54096" y="31089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 Label Smoothing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54096" y="3419856"/>
            <a:ext cx="21579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∈ {0, 0.05, 0.10, 0.20}. With ~1000 BCI samples the model memorizes sequences. Smoothing prevents overconfidence on training sentences.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5532120" y="566928"/>
            <a:ext cx="0" cy="4315968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650992" y="6583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 MLP Depth Variants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50992" y="969264"/>
            <a:ext cx="329184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50992" y="969264"/>
            <a:ext cx="3291840" cy="45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1042416"/>
            <a:ext cx="307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MLP (current) vs 5-layer vs Gated MLP with multiplicative interaction. Tests whether projector depth limits semantic bridge quality.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5650992" y="22494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 Q-Former Cross-Attention Projector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50992" y="2560320"/>
            <a:ext cx="3291840" cy="1335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50992" y="2560320"/>
            <a:ext cx="3291840" cy="45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2633472"/>
            <a:ext cx="3072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learned query tokens cross-attend over the full neural sequence → project to LLM dim. Fixed-length output (N_Q ∈ 16, 32, 64) regardless of neural sequence length. No padding waste. Highest-impact projector change expected.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5650992" y="39867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 Patch-size × Token-count Grid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50992" y="4279392"/>
            <a:ext cx="329184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650992" y="4279392"/>
            <a:ext cx="3291840" cy="45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4352544"/>
            <a:ext cx="3072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2×3 grid: patch_size ∈ {4, 5, 8} × N_Q ∈ {16, 32, 64}. Paper uses patch_size=5.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Feasibility  ·  5-Phase Roadmap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364992" y="822960"/>
            <a:ext cx="9144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93008" y="80467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(RTX 4050)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91440" cy="14630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82896" y="8046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(A100)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042416"/>
            <a:ext cx="420624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42416"/>
            <a:ext cx="36576" cy="33832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042416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A1–A3  CKA · Perplexity · Probe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3611880" y="1042416"/>
            <a:ext cx="932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GB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57200" y="1380744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380744"/>
            <a:ext cx="36576" cy="33832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1380744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 ConformerXL + Qwen1.5B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611880" y="1380744"/>
            <a:ext cx="932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GB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57200" y="1719072"/>
            <a:ext cx="420624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719072"/>
            <a:ext cx="36576" cy="33832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1719072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 HRM + Qwen1.5B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3611880" y="1719072"/>
            <a:ext cx="932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 GB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57200" y="2057400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057400"/>
            <a:ext cx="36576" cy="33832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057400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 MambaPOSSM + Qwen1.5B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3611880" y="2057400"/>
            <a:ext cx="932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GB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57200" y="2395728"/>
            <a:ext cx="420624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395728"/>
            <a:ext cx="36576" cy="33832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2395728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 MoE Encoder + Qwen1.5B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3611880" y="2395728"/>
            <a:ext cx="932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~3.5 GB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457200" y="2734056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2734056"/>
            <a:ext cx="36576" cy="33832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2734056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 ZenBrain + Qwen1.5B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3611880" y="2734056"/>
            <a:ext cx="932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GB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457200" y="3072384"/>
            <a:ext cx="420624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072384"/>
            <a:ext cx="36576" cy="3383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3072384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 Qwen2-Audio-7B decoder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3611880" y="3072384"/>
            <a:ext cx="932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GB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457200" y="3410712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3410712"/>
            <a:ext cx="36576" cy="3383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3410712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 Phi4-Multimodal decoder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3611880" y="3410712"/>
            <a:ext cx="932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GB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457200" y="3749040"/>
            <a:ext cx="420624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3749040"/>
            <a:ext cx="36576" cy="33832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3749040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 WhisperQwen (A4 proxy)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3611880" y="3749040"/>
            <a:ext cx="932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~4.1 GB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457200" y="4087368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4087368"/>
            <a:ext cx="36576" cy="33832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" y="4087368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D1–D4  Loss ablations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3611880" y="4087368"/>
            <a:ext cx="932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GB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457200" y="4425696"/>
            <a:ext cx="420624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" y="4425696"/>
            <a:ext cx="36576" cy="33832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" y="4425696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E1–E3  Projector variants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3611880" y="4425696"/>
            <a:ext cx="932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GB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4892040" y="77724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5-Phase Experiment Roadmap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892040" y="1042416"/>
            <a:ext cx="379476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892040" y="1042416"/>
            <a:ext cx="45720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0" y="109728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5440680" y="11064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No Training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001000" y="110642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440680" y="140817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CKA · A2 Perplexity · A3 Phoneme Probe  (local, inference only)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892040" y="1810512"/>
            <a:ext cx="379476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892040" y="1810512"/>
            <a:ext cx="45720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0" y="186537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5440680" y="18745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Encoder Ablations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001000" y="187452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hr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40680" y="217627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B1–B5 on 15% toy data, 20 epochs each. BIT from scratch as baseline.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892040" y="2578608"/>
            <a:ext cx="379476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892040" y="2578608"/>
            <a:ext cx="45720" cy="71323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0" y="263347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5440680" y="26426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+ Projector Ablations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001000" y="26426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hr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440680" y="294436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D1b, D2a/d, D3b/c, E2b (Q-Former), E3 grid. All local toy runs.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892040" y="3346704"/>
            <a:ext cx="379476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4892040" y="3346704"/>
            <a:ext cx="45720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29200" y="340156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75" name="Text 73"/>
          <p:cNvSpPr/>
          <p:nvPr/>
        </p:nvSpPr>
        <p:spPr>
          <a:xfrm>
            <a:off x="5440680" y="34107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— Top 2 Architectures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001000" y="34107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hr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440680" y="371246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encoder × best projector/loss combo. Full 80-epoch A100 runs.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892040" y="4114800"/>
            <a:ext cx="379476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4892040" y="4114800"/>
            <a:ext cx="45720" cy="71323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29200" y="416966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81" name="Text 79"/>
          <p:cNvSpPr/>
          <p:nvPr/>
        </p:nvSpPr>
        <p:spPr>
          <a:xfrm>
            <a:off x="5440680" y="41788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LLM Experiments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8001000" y="41788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hr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5440680" y="448056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Qwen2-Audio · A4 vision comparison. Full-data A100 training.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474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promote a toy result to full cloud training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850392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25296"/>
            <a:ext cx="85039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25296"/>
            <a:ext cx="54864" cy="6858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6245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5% relative WER slope improvement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69080" y="1389888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Run full 80-epoch A100 experiment immediately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984248"/>
            <a:ext cx="85039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984248"/>
            <a:ext cx="54864" cy="6858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214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5% relative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69080" y="214884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Combine with best complementary change, re-run toy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743200"/>
            <a:ext cx="85039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743200"/>
            <a:ext cx="54864" cy="6858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803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3% relative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69080" y="290779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Pursue only if cloud compute is currently idle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3502152"/>
            <a:ext cx="85039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502152"/>
            <a:ext cx="54864" cy="6858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6393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1% relative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069080" y="3666744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Discard — within noise level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" y="431596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metric  =  (WER_epoch2 − WER_epoch20) / 18   compared against BIT-from-scratch on identical toy data   ·   Diagnostic: n_valid_tokens &gt; 0 · ce_loss &lt; 10 · moe_aux_loss ∈ [0.01, 0.05]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2243</Words>
  <Application>Microsoft Office PowerPoint</Application>
  <PresentationFormat>On-screen Show (16:9)</PresentationFormat>
  <Paragraphs>351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Brain2Text Experiment Design</dc:title>
  <dc:subject>PptxGenJS Presentation</dc:subject>
  <dc:creator>PptxGenJS</dc:creator>
  <cp:lastModifiedBy>Pratik Pattanaik</cp:lastModifiedBy>
  <cp:revision>2</cp:revision>
  <dcterms:created xsi:type="dcterms:W3CDTF">2026-05-28T15:52:26Z</dcterms:created>
  <dcterms:modified xsi:type="dcterms:W3CDTF">2026-05-28T15:55:26Z</dcterms:modified>
</cp:coreProperties>
</file>